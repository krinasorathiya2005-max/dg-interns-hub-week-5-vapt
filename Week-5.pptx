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945313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2535047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050852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449432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EAE46D-A536-415B-88D1-3187D1582B1C}" type="datetimeFigureOut">
              <a:rPr lang="en-IN" smtClean="0"/>
              <a:t>12-09-2026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120584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EAE46D-A536-415B-88D1-3187D1582B1C}" type="datetimeFigureOut">
              <a:rPr lang="en-IN" smtClean="0"/>
              <a:t>12-09-2026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850594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EAE46D-A536-415B-88D1-3187D1582B1C}" type="datetimeFigureOut">
              <a:rPr lang="en-IN" smtClean="0"/>
              <a:t>12-09-2026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93778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3851693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016463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2633412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511A72E-CE5E-4A42-AFFA-4122DF5FA65F}"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61782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101024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60446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FEAE46D-A536-415B-88D1-3187D1582B1C}" type="datetimeFigureOut">
              <a:rPr lang="en-IN" smtClean="0"/>
              <a:t>12-09-2026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436614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1246561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EAE46D-A536-415B-88D1-3187D1582B1C}" type="datetimeFigureOut">
              <a:rPr lang="en-IN" smtClean="0"/>
              <a:t>12-09-2026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511A72E-CE5E-4A42-AFFA-4122DF5FA65F}" type="slidenum">
              <a:rPr lang="en-IN" smtClean="0"/>
              <a:t>‹#›</a:t>
            </a:fld>
            <a:endParaRPr lang="en-IN"/>
          </a:p>
        </p:txBody>
      </p:sp>
    </p:spTree>
    <p:extLst>
      <p:ext uri="{BB962C8B-B14F-4D97-AF65-F5344CB8AC3E}">
        <p14:creationId xmlns:p14="http://schemas.microsoft.com/office/powerpoint/2010/main" val="276734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FEAE46D-A536-415B-88D1-3187D1582B1C}" type="datetimeFigureOut">
              <a:rPr lang="en-IN" smtClean="0"/>
              <a:t>12-09-2026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511A72E-CE5E-4A42-AFFA-4122DF5FA65F}" type="slidenum">
              <a:rPr lang="en-IN" smtClean="0"/>
              <a:t>‹#›</a:t>
            </a:fld>
            <a:endParaRPr lang="en-IN"/>
          </a:p>
        </p:txBody>
      </p:sp>
    </p:spTree>
    <p:extLst>
      <p:ext uri="{BB962C8B-B14F-4D97-AF65-F5344CB8AC3E}">
        <p14:creationId xmlns:p14="http://schemas.microsoft.com/office/powerpoint/2010/main" val="11000867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9BE66-3723-14E8-B4B7-6FAA3609BAF5}"/>
              </a:ext>
            </a:extLst>
          </p:cNvPr>
          <p:cNvSpPr>
            <a:spLocks noGrp="1"/>
          </p:cNvSpPr>
          <p:nvPr>
            <p:ph type="ctrTitle"/>
          </p:nvPr>
        </p:nvSpPr>
        <p:spPr/>
        <p:txBody>
          <a:bodyPr>
            <a:noAutofit/>
          </a:bodyPr>
          <a:lstStyle/>
          <a:p>
            <a:r>
              <a:rPr lang="en-IN" sz="3600" b="1" dirty="0">
                <a:latin typeface="Times New Roman" panose="02020603050405020304" pitchFamily="18" charset="0"/>
                <a:cs typeface="Times New Roman" panose="02020603050405020304" pitchFamily="18" charset="0"/>
              </a:rPr>
              <a:t> 			</a:t>
            </a:r>
            <a:r>
              <a:rPr lang="en-IN" sz="3600" b="1">
                <a:latin typeface="Times New Roman" panose="02020603050405020304" pitchFamily="18" charset="0"/>
                <a:cs typeface="Times New Roman" panose="02020603050405020304" pitchFamily="18" charset="0"/>
              </a:rPr>
              <a:t>Week 5 </a:t>
            </a:r>
            <a:r>
              <a:rPr lang="en-IN" sz="3600" b="1" dirty="0">
                <a:latin typeface="Times New Roman" panose="02020603050405020304" pitchFamily="18" charset="0"/>
                <a:cs typeface="Times New Roman" panose="02020603050405020304" pitchFamily="18" charset="0"/>
              </a:rPr>
              <a:t>Internship Report</a:t>
            </a: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Computer Networking Fundamentals</a:t>
            </a:r>
            <a:br>
              <a:rPr lang="en-IN" sz="3600" dirty="0">
                <a:latin typeface="Times New Roman" panose="02020603050405020304" pitchFamily="18" charset="0"/>
                <a:cs typeface="Times New Roman" panose="02020603050405020304" pitchFamily="18" charset="0"/>
              </a:rPr>
            </a:br>
            <a:br>
              <a:rPr lang="en-IN" sz="3600" dirty="0">
                <a:latin typeface="Times New Roman" panose="02020603050405020304" pitchFamily="18" charset="0"/>
                <a:cs typeface="Times New Roman" panose="02020603050405020304" pitchFamily="18" charset="0"/>
              </a:rPr>
            </a:br>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0D227FA-5551-4F9B-FAD3-2445BA448CEC}"/>
              </a:ext>
            </a:extLst>
          </p:cNvPr>
          <p:cNvSpPr>
            <a:spLocks noGrp="1"/>
          </p:cNvSpPr>
          <p:nvPr>
            <p:ph type="subTitle" idx="1"/>
          </p:nvPr>
        </p:nvSpPr>
        <p:spPr>
          <a:xfrm>
            <a:off x="2274581" y="3164888"/>
            <a:ext cx="8915399" cy="1126283"/>
          </a:xfrm>
        </p:spPr>
        <p:txBody>
          <a:bodyPr>
            <a:noAutofit/>
          </a:bodyPr>
          <a:lstStyle/>
          <a:p>
            <a:r>
              <a:rPr lang="en-IN" sz="3200" b="1" dirty="0">
                <a:solidFill>
                  <a:schemeClr val="tx1"/>
                </a:solidFill>
                <a:latin typeface="Times New Roman" panose="02020603050405020304" pitchFamily="18" charset="0"/>
                <a:cs typeface="Times New Roman" panose="02020603050405020304" pitchFamily="18" charset="0"/>
              </a:rPr>
              <a:t>Submitted By : </a:t>
            </a:r>
          </a:p>
          <a:p>
            <a:pPr marL="457200" indent="-457200">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Name: Krina Sorathiya</a:t>
            </a:r>
          </a:p>
          <a:p>
            <a:pPr marL="457200" indent="-457200">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Internship: DG Interns Hub</a:t>
            </a:r>
          </a:p>
          <a:p>
            <a:pPr marL="457200" indent="-457200">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Week: 5 </a:t>
            </a:r>
            <a:endParaRPr lang="en-US" sz="2800" dirty="0">
              <a:solidFill>
                <a:schemeClr val="tx1"/>
              </a:solidFill>
              <a:latin typeface="Times New Roman" panose="02020603050405020304" pitchFamily="18" charset="0"/>
              <a:cs typeface="Times New Roman" panose="02020603050405020304" pitchFamily="18" charset="0"/>
            </a:endParaRPr>
          </a:p>
          <a:p>
            <a:endParaRPr lang="en-IN" sz="2800" dirty="0">
              <a:solidFill>
                <a:schemeClr val="tx1"/>
              </a:solidFill>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8E120913-C8AB-6A6A-D481-93BC3E20F4CE}"/>
              </a:ext>
              <a:ext uri="{C183D7F6-B498-43B3-948B-1728B52AA6E4}">
                <adec:decorative xmlns:adec="http://schemas.microsoft.com/office/drawing/2017/decorative" val="1"/>
              </a:ext>
            </a:extLst>
          </p:cNvPr>
          <p:cNvCxnSpPr>
            <a:cxnSpLocks/>
          </p:cNvCxnSpPr>
          <p:nvPr/>
        </p:nvCxnSpPr>
        <p:spPr>
          <a:xfrm>
            <a:off x="2204040" y="2807452"/>
            <a:ext cx="8267315"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D9033A8-AE2A-980D-E550-97860DC03221}"/>
              </a:ext>
              <a:ext uri="{C183D7F6-B498-43B3-948B-1728B52AA6E4}">
                <adec:decorative xmlns:adec="http://schemas.microsoft.com/office/drawing/2017/decorative" val="1"/>
              </a:ext>
            </a:extLst>
          </p:cNvPr>
          <p:cNvPicPr>
            <a:picLocks noChangeAspect="1"/>
          </p:cNvPicPr>
          <p:nvPr/>
        </p:nvPicPr>
        <p:blipFill>
          <a:blip r:embed="rId2" cstate="screen">
            <a:extLst>
              <a:ext uri="{BEBA8EAE-BF5A-486C-A8C5-ECC9F3942E4B}">
                <a14:imgProps xmlns:a14="http://schemas.microsoft.com/office/drawing/2010/main">
                  <a14:imgLayer r:embed="rId3">
                    <a14:imgEffect>
                      <a14:saturation sat="35000"/>
                    </a14:imgEffect>
                  </a14:imgLayer>
                </a14:imgProps>
              </a:ext>
              <a:ext uri="{28A0092B-C50C-407E-A947-70E740481C1C}">
                <a14:useLocalDpi xmlns:a14="http://schemas.microsoft.com/office/drawing/2010/main"/>
              </a:ext>
            </a:extLst>
          </a:blip>
          <a:stretch>
            <a:fillRect/>
          </a:stretch>
        </p:blipFill>
        <p:spPr>
          <a:xfrm>
            <a:off x="5760202" y="2664761"/>
            <a:ext cx="972078" cy="285381"/>
          </a:xfrm>
          <a:prstGeom prst="rect">
            <a:avLst/>
          </a:prstGeom>
        </p:spPr>
      </p:pic>
    </p:spTree>
    <p:extLst>
      <p:ext uri="{BB962C8B-B14F-4D97-AF65-F5344CB8AC3E}">
        <p14:creationId xmlns:p14="http://schemas.microsoft.com/office/powerpoint/2010/main" val="2854708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FF1A-7F82-B738-751A-8DE2DD801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92AD3D-9BDA-35D5-0F39-2271CEBF7588}"/>
              </a:ext>
            </a:extLst>
          </p:cNvPr>
          <p:cNvSpPr>
            <a:spLocks noGrp="1"/>
          </p:cNvSpPr>
          <p:nvPr>
            <p:ph type="ctrTitle"/>
          </p:nvPr>
        </p:nvSpPr>
        <p:spPr>
          <a:xfrm>
            <a:off x="4939124" y="218047"/>
            <a:ext cx="4273703" cy="647410"/>
          </a:xfrm>
        </p:spPr>
        <p:txBody>
          <a:bodyPr>
            <a:noAutofit/>
          </a:bodyPr>
          <a:lstStyle/>
          <a:p>
            <a:r>
              <a:rPr lang="en-IN" sz="3600" b="1" dirty="0">
                <a:solidFill>
                  <a:schemeClr val="tx1"/>
                </a:solidFill>
                <a:latin typeface="Times New Roman" panose="02020603050405020304" pitchFamily="18" charset="0"/>
                <a:cs typeface="Times New Roman" panose="02020603050405020304" pitchFamily="18" charset="0"/>
              </a:rPr>
              <a:t>Introduction</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25FE041-C64E-22E1-053D-4EB8487FCDF6}"/>
              </a:ext>
            </a:extLst>
          </p:cNvPr>
          <p:cNvSpPr>
            <a:spLocks noGrp="1"/>
          </p:cNvSpPr>
          <p:nvPr>
            <p:ph type="subTitle" idx="1"/>
          </p:nvPr>
        </p:nvSpPr>
        <p:spPr>
          <a:xfrm>
            <a:off x="2124339" y="1365585"/>
            <a:ext cx="9419961" cy="1126283"/>
          </a:xfrm>
        </p:spPr>
        <p:txBody>
          <a:bodyPr>
            <a:noAutofit/>
          </a:bodyPr>
          <a:lstStyle/>
          <a:p>
            <a:r>
              <a:rPr lang="en-US" dirty="0">
                <a:latin typeface="Times New Roman" panose="02020603050405020304" pitchFamily="18" charset="0"/>
                <a:cs typeface="Times New Roman" panose="02020603050405020304" pitchFamily="18" charset="0"/>
              </a:rPr>
              <a:t>Vulnerability Assessment and Penetration Testing (VAPT) is a security testing process used to identify weaknesses in systems, networks and web applications. Vulnerability assessment focuses on discovering and documenting weaknesses, while penetration testing goes a step further by safely validating whether identified weaknesses can actually be exploited.</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this practical, testing is limited to the authorized training target provided by the internship: http://testphp.vulnweb.com. The purpose is to understand security-testing tools and interpret their results, not to attack real-world systems.</a:t>
            </a:r>
          </a:p>
          <a:p>
            <a:r>
              <a:rPr lang="en-US" sz="2800" b="1" dirty="0">
                <a:solidFill>
                  <a:schemeClr val="tx1"/>
                </a:solidFill>
                <a:latin typeface="Times New Roman" panose="02020603050405020304" pitchFamily="18" charset="0"/>
                <a:cs typeface="Times New Roman" panose="02020603050405020304" pitchFamily="18" charset="0"/>
              </a:rPr>
              <a:t>Objectives:</a:t>
            </a:r>
            <a:endParaRPr lang="en-IN" sz="2800" b="1" dirty="0">
              <a:solidFill>
                <a:schemeClr val="tx1"/>
              </a:solidFill>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Understand the basic VAPT workflow.</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Perform network and service discovery using Nmap.</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Perform a web vulnerability scan using </a:t>
            </a:r>
            <a:r>
              <a:rPr lang="en-US" dirty="0" err="1">
                <a:latin typeface="Times New Roman" panose="02020603050405020304" pitchFamily="18" charset="0"/>
                <a:cs typeface="Times New Roman" panose="02020603050405020304" pitchFamily="18" charset="0"/>
              </a:rPr>
              <a:t>Nikto</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Intercept and inspect HTTP requests using Burp Suite.</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Identify at least three security-related findings from the lab.</a:t>
            </a:r>
            <a:endParaRPr lang="en-IN"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Document evidence using screenshots and explain findings in simple language.</a:t>
            </a:r>
            <a:endParaRPr lang="en-IN"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442356F-5E2F-9C17-BE20-1FF3A72CFDC4}"/>
              </a:ext>
              <a:ext uri="{C183D7F6-B498-43B3-948B-1728B52AA6E4}">
                <adec:decorative xmlns:adec="http://schemas.microsoft.com/office/drawing/2017/decorative" val="1"/>
              </a:ext>
            </a:extLst>
          </p:cNvPr>
          <p:cNvCxnSpPr>
            <a:cxnSpLocks/>
          </p:cNvCxnSpPr>
          <p:nvPr/>
        </p:nvCxnSpPr>
        <p:spPr>
          <a:xfrm>
            <a:off x="2112583" y="1008148"/>
            <a:ext cx="8267315"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F0345415-7CFB-5AB3-D451-B3B8AF155288}"/>
              </a:ext>
              <a:ext uri="{C183D7F6-B498-43B3-948B-1728B52AA6E4}">
                <adec:decorative xmlns:adec="http://schemas.microsoft.com/office/drawing/2017/decorative" val="1"/>
              </a:ext>
            </a:extLst>
          </p:cNvPr>
          <p:cNvPicPr>
            <a:picLocks noChangeAspect="1"/>
          </p:cNvPicPr>
          <p:nvPr/>
        </p:nvPicPr>
        <p:blipFill>
          <a:blip r:embed="rId2" cstate="screen">
            <a:extLst>
              <a:ext uri="{BEBA8EAE-BF5A-486C-A8C5-ECC9F3942E4B}">
                <a14:imgProps xmlns:a14="http://schemas.microsoft.com/office/drawing/2010/main">
                  <a14:imgLayer r:embed="rId3">
                    <a14:imgEffect>
                      <a14:saturation sat="35000"/>
                    </a14:imgEffect>
                  </a14:imgLayer>
                </a14:imgProps>
              </a:ext>
              <a:ext uri="{28A0092B-C50C-407E-A947-70E740481C1C}">
                <a14:useLocalDpi xmlns:a14="http://schemas.microsoft.com/office/drawing/2010/main"/>
              </a:ext>
            </a:extLst>
          </a:blip>
          <a:stretch>
            <a:fillRect/>
          </a:stretch>
        </p:blipFill>
        <p:spPr>
          <a:xfrm>
            <a:off x="5609961" y="865457"/>
            <a:ext cx="972078" cy="285381"/>
          </a:xfrm>
          <a:prstGeom prst="rect">
            <a:avLst/>
          </a:prstGeom>
        </p:spPr>
      </p:pic>
    </p:spTree>
    <p:extLst>
      <p:ext uri="{BB962C8B-B14F-4D97-AF65-F5344CB8AC3E}">
        <p14:creationId xmlns:p14="http://schemas.microsoft.com/office/powerpoint/2010/main" val="1351505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40576-6AEA-4B67-D575-EA2FE82D14C6}"/>
              </a:ext>
            </a:extLst>
          </p:cNvPr>
          <p:cNvSpPr>
            <a:spLocks noGrp="1"/>
          </p:cNvSpPr>
          <p:nvPr>
            <p:ph type="title"/>
          </p:nvPr>
        </p:nvSpPr>
        <p:spPr>
          <a:xfrm>
            <a:off x="1640156" y="632651"/>
            <a:ext cx="8911687" cy="1280890"/>
          </a:xfrm>
        </p:spPr>
        <p:txBody>
          <a:bodyPr/>
          <a:lstStyle/>
          <a:p>
            <a:r>
              <a:rPr lang="en-US" b="1" dirty="0">
                <a:latin typeface="Times New Roman" panose="02020603050405020304" pitchFamily="18" charset="0"/>
                <a:cs typeface="Times New Roman" panose="02020603050405020304" pitchFamily="18" charset="0"/>
              </a:rPr>
              <a:t>Lab Environment and Network Topology</a:t>
            </a: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B99B6F9-0941-A465-0453-3653483FE38D}"/>
              </a:ext>
            </a:extLst>
          </p:cNvPr>
          <p:cNvSpPr txBox="1"/>
          <p:nvPr/>
        </p:nvSpPr>
        <p:spPr>
          <a:xfrm>
            <a:off x="2260553" y="1451876"/>
            <a:ext cx="8177617"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Target used: testphp.vulnweb.com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Authorization: Testing is performed only against the safe training website specified in the Week 5 instructions.</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92FBD458-AD6F-040B-9A51-AD4F8827A02B}"/>
              </a:ext>
            </a:extLst>
          </p:cNvPr>
          <p:cNvGraphicFramePr>
            <a:graphicFrameLocks noGrp="1"/>
          </p:cNvGraphicFramePr>
          <p:nvPr>
            <p:extLst>
              <p:ext uri="{D42A27DB-BD31-4B8C-83A1-F6EECF244321}">
                <p14:modId xmlns:p14="http://schemas.microsoft.com/office/powerpoint/2010/main" val="2813278608"/>
              </p:ext>
            </p:extLst>
          </p:nvPr>
        </p:nvGraphicFramePr>
        <p:xfrm>
          <a:off x="2895599" y="2873972"/>
          <a:ext cx="6400800" cy="2748661"/>
        </p:xfrm>
        <a:graphic>
          <a:graphicData uri="http://schemas.openxmlformats.org/drawingml/2006/table">
            <a:tbl>
              <a:tblPr firstRow="1" firstCol="1" bandRow="1">
                <a:tableStyleId>{5C22544A-7EE6-4342-B048-85BDC9FD1C3A}</a:tableStyleId>
              </a:tblPr>
              <a:tblGrid>
                <a:gridCol w="2133600">
                  <a:extLst>
                    <a:ext uri="{9D8B030D-6E8A-4147-A177-3AD203B41FA5}">
                      <a16:colId xmlns:a16="http://schemas.microsoft.com/office/drawing/2014/main" val="4107284151"/>
                    </a:ext>
                  </a:extLst>
                </a:gridCol>
                <a:gridCol w="2133600">
                  <a:extLst>
                    <a:ext uri="{9D8B030D-6E8A-4147-A177-3AD203B41FA5}">
                      <a16:colId xmlns:a16="http://schemas.microsoft.com/office/drawing/2014/main" val="1123543089"/>
                    </a:ext>
                  </a:extLst>
                </a:gridCol>
                <a:gridCol w="2133600">
                  <a:extLst>
                    <a:ext uri="{9D8B030D-6E8A-4147-A177-3AD203B41FA5}">
                      <a16:colId xmlns:a16="http://schemas.microsoft.com/office/drawing/2014/main" val="724661463"/>
                    </a:ext>
                  </a:extLst>
                </a:gridCol>
              </a:tblGrid>
              <a:tr h="0">
                <a:tc>
                  <a:txBody>
                    <a:bodyPr/>
                    <a:lstStyle/>
                    <a:p>
                      <a:pPr marL="0" marR="0" algn="ctr">
                        <a:lnSpc>
                          <a:spcPct val="150000"/>
                        </a:lnSpc>
                        <a:spcAft>
                          <a:spcPts val="1000"/>
                        </a:spcAft>
                        <a:buNone/>
                      </a:pPr>
                      <a:r>
                        <a:rPr lang="en-US" sz="1400">
                          <a:effectLst/>
                        </a:rPr>
                        <a:t>Tool</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Purpose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Main Evidence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69244727"/>
                  </a:ext>
                </a:extLst>
              </a:tr>
              <a:tr h="0">
                <a:tc>
                  <a:txBody>
                    <a:bodyPr/>
                    <a:lstStyle/>
                    <a:p>
                      <a:pPr marL="0" marR="0" algn="ctr">
                        <a:lnSpc>
                          <a:spcPct val="150000"/>
                        </a:lnSpc>
                        <a:spcAft>
                          <a:spcPts val="1000"/>
                        </a:spcAft>
                        <a:buNone/>
                      </a:pPr>
                      <a:r>
                        <a:rPr lang="en-US" sz="1400">
                          <a:effectLst/>
                        </a:rPr>
                        <a:t>Nmap</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Port, service and basic host detection</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Scan outputs</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70291718"/>
                  </a:ext>
                </a:extLst>
              </a:tr>
              <a:tr h="0">
                <a:tc>
                  <a:txBody>
                    <a:bodyPr/>
                    <a:lstStyle/>
                    <a:p>
                      <a:pPr marL="0" marR="0" algn="ctr">
                        <a:lnSpc>
                          <a:spcPct val="150000"/>
                        </a:lnSpc>
                        <a:spcAft>
                          <a:spcPts val="1000"/>
                        </a:spcAft>
                        <a:buNone/>
                      </a:pPr>
                      <a:r>
                        <a:rPr lang="en-US" sz="1400" dirty="0" err="1">
                          <a:effectLst/>
                        </a:rPr>
                        <a:t>Nikto</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Web-server and common web-security checks</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Nikto findings</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73806911"/>
                  </a:ext>
                </a:extLst>
              </a:tr>
              <a:tr h="0">
                <a:tc>
                  <a:txBody>
                    <a:bodyPr/>
                    <a:lstStyle/>
                    <a:p>
                      <a:pPr marL="0" marR="0" algn="ctr">
                        <a:lnSpc>
                          <a:spcPct val="150000"/>
                        </a:lnSpc>
                        <a:spcAft>
                          <a:spcPts val="1000"/>
                        </a:spcAft>
                        <a:buNone/>
                      </a:pPr>
                      <a:r>
                        <a:rPr lang="en-US" sz="1400">
                          <a:effectLst/>
                        </a:rPr>
                        <a:t>Burp Suite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a:effectLst/>
                        </a:rPr>
                        <a:t>HTTP request interception and inspection</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tc>
                  <a:txBody>
                    <a:bodyPr/>
                    <a:lstStyle/>
                    <a:p>
                      <a:pPr marL="0" marR="0" algn="ctr">
                        <a:lnSpc>
                          <a:spcPct val="150000"/>
                        </a:lnSpc>
                        <a:spcAft>
                          <a:spcPts val="1000"/>
                        </a:spcAft>
                        <a:buNone/>
                      </a:pPr>
                      <a:r>
                        <a:rPr lang="en-US" sz="1400" dirty="0">
                          <a:effectLst/>
                        </a:rPr>
                        <a:t>2–3 captured requests</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21413259"/>
                  </a:ext>
                </a:extLst>
              </a:tr>
            </a:tbl>
          </a:graphicData>
        </a:graphic>
      </p:graphicFrame>
    </p:spTree>
    <p:extLst>
      <p:ext uri="{BB962C8B-B14F-4D97-AF65-F5344CB8AC3E}">
        <p14:creationId xmlns:p14="http://schemas.microsoft.com/office/powerpoint/2010/main" val="2351141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B9D36-31E3-41EC-05E4-C9BF97B170BE}"/>
              </a:ext>
            </a:extLst>
          </p:cNvPr>
          <p:cNvSpPr>
            <a:spLocks noGrp="1"/>
          </p:cNvSpPr>
          <p:nvPr>
            <p:ph type="title"/>
          </p:nvPr>
        </p:nvSpPr>
        <p:spPr>
          <a:xfrm>
            <a:off x="1718814" y="683104"/>
            <a:ext cx="8911687" cy="1280890"/>
          </a:xfrm>
        </p:spPr>
        <p:txBody>
          <a:bodyPr/>
          <a:lstStyle/>
          <a:p>
            <a:r>
              <a:rPr lang="en-US" b="1" dirty="0">
                <a:latin typeface="Times New Roman" panose="02020603050405020304" pitchFamily="18" charset="0"/>
                <a:cs typeface="Times New Roman" panose="02020603050405020304" pitchFamily="18" charset="0"/>
              </a:rPr>
              <a:t>Nmap -</a:t>
            </a:r>
            <a:r>
              <a:rPr lang="en-US" b="1" dirty="0" err="1">
                <a:latin typeface="Times New Roman" panose="02020603050405020304" pitchFamily="18" charset="0"/>
                <a:cs typeface="Times New Roman" panose="02020603050405020304" pitchFamily="18" charset="0"/>
              </a:rPr>
              <a:t>sS</a:t>
            </a:r>
            <a:r>
              <a:rPr lang="en-US" b="1" dirty="0">
                <a:latin typeface="Times New Roman" panose="02020603050405020304" pitchFamily="18" charset="0"/>
                <a:cs typeface="Times New Roman" panose="02020603050405020304" pitchFamily="18" charset="0"/>
              </a:rPr>
              <a:t> Result</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9E78267-AE13-9476-3658-595637B97AFA}"/>
              </a:ext>
            </a:extLst>
          </p:cNvPr>
          <p:cNvPicPr>
            <a:picLocks noChangeAspect="1"/>
          </p:cNvPicPr>
          <p:nvPr/>
        </p:nvPicPr>
        <p:blipFill>
          <a:blip r:embed="rId2"/>
          <a:stretch>
            <a:fillRect/>
          </a:stretch>
        </p:blipFill>
        <p:spPr>
          <a:xfrm>
            <a:off x="871743" y="1323549"/>
            <a:ext cx="4545832" cy="4140200"/>
          </a:xfrm>
          <a:prstGeom prst="rect">
            <a:avLst/>
          </a:prstGeom>
        </p:spPr>
      </p:pic>
      <p:pic>
        <p:nvPicPr>
          <p:cNvPr id="5" name="Picture 4">
            <a:extLst>
              <a:ext uri="{FF2B5EF4-FFF2-40B4-BE49-F238E27FC236}">
                <a16:creationId xmlns:a16="http://schemas.microsoft.com/office/drawing/2014/main" id="{6A735EF5-575D-8FAF-394C-28AD97BE8A36}"/>
              </a:ext>
            </a:extLst>
          </p:cNvPr>
          <p:cNvPicPr>
            <a:picLocks noChangeAspect="1"/>
          </p:cNvPicPr>
          <p:nvPr/>
        </p:nvPicPr>
        <p:blipFill>
          <a:blip r:embed="rId3"/>
          <a:stretch>
            <a:fillRect/>
          </a:stretch>
        </p:blipFill>
        <p:spPr>
          <a:xfrm>
            <a:off x="5638800" y="1963994"/>
            <a:ext cx="6400800" cy="4800600"/>
          </a:xfrm>
          <a:prstGeom prst="rect">
            <a:avLst/>
          </a:prstGeom>
        </p:spPr>
      </p:pic>
    </p:spTree>
    <p:extLst>
      <p:ext uri="{BB962C8B-B14F-4D97-AF65-F5344CB8AC3E}">
        <p14:creationId xmlns:p14="http://schemas.microsoft.com/office/powerpoint/2010/main" val="372526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68440-BCB4-84AC-FB4E-B26B84CAE2D2}"/>
              </a:ext>
            </a:extLst>
          </p:cNvPr>
          <p:cNvSpPr>
            <a:spLocks noGrp="1"/>
          </p:cNvSpPr>
          <p:nvPr>
            <p:ph type="title"/>
          </p:nvPr>
        </p:nvSpPr>
        <p:spPr>
          <a:xfrm>
            <a:off x="1640156" y="624110"/>
            <a:ext cx="8911687" cy="1280890"/>
          </a:xfrm>
        </p:spPr>
        <p:txBody>
          <a:bodyPr>
            <a:normAutofit fontScale="90000"/>
          </a:bodyPr>
          <a:lstStyle/>
          <a:p>
            <a:r>
              <a:rPr lang="en-US" b="1" dirty="0">
                <a:latin typeface="Times New Roman" panose="02020603050405020304" pitchFamily="18" charset="0"/>
                <a:cs typeface="Times New Roman" panose="02020603050405020304" pitchFamily="18" charset="0"/>
              </a:rPr>
              <a:t>Nmap -</a:t>
            </a:r>
            <a:r>
              <a:rPr lang="en-US" b="1" dirty="0" err="1">
                <a:latin typeface="Times New Roman" panose="02020603050405020304" pitchFamily="18" charset="0"/>
                <a:cs typeface="Times New Roman" panose="02020603050405020304" pitchFamily="18" charset="0"/>
              </a:rPr>
              <a:t>sV</a:t>
            </a:r>
            <a:r>
              <a:rPr lang="en-US" b="1" dirty="0">
                <a:latin typeface="Times New Roman" panose="02020603050405020304" pitchFamily="18" charset="0"/>
                <a:cs typeface="Times New Roman" panose="02020603050405020304" pitchFamily="18" charset="0"/>
              </a:rPr>
              <a:t> Result &amp; Nmap -A Result</a:t>
            </a:r>
            <a:br>
              <a:rPr lang="en-US"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56B890-022C-EAED-ADF4-2CC9F9F4205F}"/>
              </a:ext>
            </a:extLst>
          </p:cNvPr>
          <p:cNvPicPr>
            <a:picLocks noChangeAspect="1"/>
          </p:cNvPicPr>
          <p:nvPr/>
        </p:nvPicPr>
        <p:blipFill>
          <a:blip r:embed="rId2"/>
          <a:stretch>
            <a:fillRect/>
          </a:stretch>
        </p:blipFill>
        <p:spPr>
          <a:xfrm>
            <a:off x="575187" y="1433290"/>
            <a:ext cx="5284839" cy="4800600"/>
          </a:xfrm>
          <a:prstGeom prst="rect">
            <a:avLst/>
          </a:prstGeom>
        </p:spPr>
      </p:pic>
      <p:pic>
        <p:nvPicPr>
          <p:cNvPr id="6" name="Picture 5">
            <a:extLst>
              <a:ext uri="{FF2B5EF4-FFF2-40B4-BE49-F238E27FC236}">
                <a16:creationId xmlns:a16="http://schemas.microsoft.com/office/drawing/2014/main" id="{13FE4BB9-0B2E-3A33-12E1-AD1CEA50DA90}"/>
              </a:ext>
            </a:extLst>
          </p:cNvPr>
          <p:cNvPicPr>
            <a:picLocks noChangeAspect="1"/>
          </p:cNvPicPr>
          <p:nvPr/>
        </p:nvPicPr>
        <p:blipFill>
          <a:blip r:embed="rId3"/>
          <a:stretch>
            <a:fillRect/>
          </a:stretch>
        </p:blipFill>
        <p:spPr>
          <a:xfrm>
            <a:off x="5978012" y="2057400"/>
            <a:ext cx="6071419" cy="4800600"/>
          </a:xfrm>
          <a:prstGeom prst="rect">
            <a:avLst/>
          </a:prstGeom>
        </p:spPr>
      </p:pic>
    </p:spTree>
    <p:extLst>
      <p:ext uri="{BB962C8B-B14F-4D97-AF65-F5344CB8AC3E}">
        <p14:creationId xmlns:p14="http://schemas.microsoft.com/office/powerpoint/2010/main" val="73168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282CE-8632-7010-64C1-1EFFE5CD0849}"/>
              </a:ext>
            </a:extLst>
          </p:cNvPr>
          <p:cNvSpPr>
            <a:spLocks noGrp="1"/>
          </p:cNvSpPr>
          <p:nvPr>
            <p:ph type="title"/>
          </p:nvPr>
        </p:nvSpPr>
        <p:spPr>
          <a:xfrm>
            <a:off x="1640156" y="624110"/>
            <a:ext cx="8911687" cy="1280890"/>
          </a:xfrm>
        </p:spPr>
        <p:txBody>
          <a:bodyPr/>
          <a:lstStyle/>
          <a:p>
            <a:r>
              <a:rPr lang="en-US" b="1" dirty="0" err="1">
                <a:latin typeface="Times New Roman" panose="02020603050405020304" pitchFamily="18" charset="0"/>
                <a:cs typeface="Times New Roman" panose="02020603050405020304" pitchFamily="18" charset="0"/>
              </a:rPr>
              <a:t>Nikto</a:t>
            </a:r>
            <a:r>
              <a:rPr lang="en-US" b="1" dirty="0">
                <a:latin typeface="Times New Roman" panose="02020603050405020304" pitchFamily="18" charset="0"/>
                <a:cs typeface="Times New Roman" panose="02020603050405020304" pitchFamily="18" charset="0"/>
              </a:rPr>
              <a:t> Web Vulnerability Scan</a:t>
            </a:r>
            <a:endParaRPr lang="en-IN"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2B1D168-300F-C685-FBFC-6344EBCD1D28}"/>
              </a:ext>
            </a:extLst>
          </p:cNvPr>
          <p:cNvSpPr>
            <a:spLocks noGrp="1"/>
          </p:cNvSpPr>
          <p:nvPr>
            <p:ph idx="1"/>
          </p:nvPr>
        </p:nvSpPr>
        <p:spPr>
          <a:xfrm>
            <a:off x="1252984" y="1362878"/>
            <a:ext cx="8915400" cy="3777622"/>
          </a:xfrm>
        </p:spPr>
        <p:txBody>
          <a:bodyPr>
            <a:noAutofit/>
          </a:bodyPr>
          <a:lstStyle/>
          <a:p>
            <a:r>
              <a:rPr lang="en-US" dirty="0" err="1">
                <a:latin typeface="Times New Roman" panose="02020603050405020304" pitchFamily="18" charset="0"/>
                <a:cs typeface="Times New Roman" panose="02020603050405020304" pitchFamily="18" charset="0"/>
              </a:rPr>
              <a:t>Nikto</a:t>
            </a:r>
            <a:r>
              <a:rPr lang="en-US" dirty="0">
                <a:latin typeface="Times New Roman" panose="02020603050405020304" pitchFamily="18" charset="0"/>
                <a:cs typeface="Times New Roman" panose="02020603050405020304" pitchFamily="18" charset="0"/>
              </a:rPr>
              <a:t> is a web-server scanner that checks for common server misconfigurations, potentially risky files, outdated components and other known web-server issues. It is useful as an initial automated assessment tool.</a:t>
            </a:r>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4.1 Command Used</a:t>
            </a:r>
            <a:endParaRPr lang="en-IN" b="1"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nikto</a:t>
            </a:r>
            <a:r>
              <a:rPr lang="en-US" dirty="0">
                <a:latin typeface="Times New Roman" panose="02020603050405020304" pitchFamily="18" charset="0"/>
                <a:cs typeface="Times New Roman" panose="02020603050405020304" pitchFamily="18" charset="0"/>
              </a:rPr>
              <a:t> -h http://testphp.vulnweb.com</a:t>
            </a:r>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-h option specifies the target host. The scan output should be reviewed carefully because automated scanner findings are indicators that require interpretation and, when necessary, manual validation.</a:t>
            </a:r>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00E3E73-5A59-4A5A-F911-259A05A5459B}"/>
              </a:ext>
            </a:extLst>
          </p:cNvPr>
          <p:cNvPicPr>
            <a:picLocks noChangeAspect="1"/>
          </p:cNvPicPr>
          <p:nvPr/>
        </p:nvPicPr>
        <p:blipFill>
          <a:blip r:embed="rId2"/>
          <a:stretch>
            <a:fillRect/>
          </a:stretch>
        </p:blipFill>
        <p:spPr>
          <a:xfrm>
            <a:off x="5560142" y="3778291"/>
            <a:ext cx="6400800" cy="2980055"/>
          </a:xfrm>
          <a:prstGeom prst="rect">
            <a:avLst/>
          </a:prstGeom>
        </p:spPr>
      </p:pic>
    </p:spTree>
    <p:extLst>
      <p:ext uri="{BB962C8B-B14F-4D97-AF65-F5344CB8AC3E}">
        <p14:creationId xmlns:p14="http://schemas.microsoft.com/office/powerpoint/2010/main" val="3437608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10E01-7649-D073-FDC5-D33970A30FAE}"/>
              </a:ext>
            </a:extLst>
          </p:cNvPr>
          <p:cNvSpPr>
            <a:spLocks noGrp="1"/>
          </p:cNvSpPr>
          <p:nvPr>
            <p:ph type="title"/>
          </p:nvPr>
        </p:nvSpPr>
        <p:spPr>
          <a:xfrm>
            <a:off x="1973493" y="643775"/>
            <a:ext cx="8911687" cy="1280890"/>
          </a:xfrm>
        </p:spPr>
        <p:txBody>
          <a:bodyPr/>
          <a:lstStyle/>
          <a:p>
            <a:r>
              <a:rPr lang="en-US" b="1" dirty="0">
                <a:latin typeface="Times New Roman" panose="02020603050405020304" pitchFamily="18" charset="0"/>
                <a:cs typeface="Times New Roman" panose="02020603050405020304" pitchFamily="18" charset="0"/>
              </a:rPr>
              <a:t>Burp Suite HTTP Request Interception</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CAD0FB4-8645-CBAD-DEA4-428526FDFF13}"/>
              </a:ext>
            </a:extLst>
          </p:cNvPr>
          <p:cNvSpPr txBox="1"/>
          <p:nvPr/>
        </p:nvSpPr>
        <p:spPr>
          <a:xfrm>
            <a:off x="983226" y="1486400"/>
            <a:ext cx="4694903" cy="5057795"/>
          </a:xfrm>
          <a:prstGeom prst="rect">
            <a:avLst/>
          </a:prstGeom>
          <a:noFill/>
        </p:spPr>
        <p:txBody>
          <a:bodyPr wrap="square">
            <a:spAutoFit/>
          </a:bodyPr>
          <a:lstStyle/>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Burp Suite is a web security testing platform. Its Proxy feature can intercept browser traffic so that an analyst can inspect HTTP requests and responses. This practical focuses on understanding requests, headers, cookies and parameters.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5.1 Proxy Configuration</a:t>
            </a: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Open Burp Suite and start a temporary project.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Open Proxy settings and confirm the listener is configured for 127.0.0.1:8080.</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Configure the browser to use the same local proxy.</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Open the authorized test website through the configured browser.</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Turn interception on and observe the request before forwarding it.</a:t>
            </a:r>
            <a:endParaRPr lang="en-IN" sz="105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pic>
        <p:nvPicPr>
          <p:cNvPr id="6" name="Picture 5">
            <a:extLst>
              <a:ext uri="{FF2B5EF4-FFF2-40B4-BE49-F238E27FC236}">
                <a16:creationId xmlns:a16="http://schemas.microsoft.com/office/drawing/2014/main" id="{02017CD9-379A-B87B-CB76-9DD6597C6CF9}"/>
              </a:ext>
            </a:extLst>
          </p:cNvPr>
          <p:cNvPicPr>
            <a:picLocks noChangeAspect="1"/>
          </p:cNvPicPr>
          <p:nvPr/>
        </p:nvPicPr>
        <p:blipFill>
          <a:blip r:embed="rId2"/>
          <a:stretch>
            <a:fillRect/>
          </a:stretch>
        </p:blipFill>
        <p:spPr>
          <a:xfrm>
            <a:off x="5678130" y="3133111"/>
            <a:ext cx="6400800" cy="3600450"/>
          </a:xfrm>
          <a:prstGeom prst="rect">
            <a:avLst/>
          </a:prstGeom>
        </p:spPr>
      </p:pic>
    </p:spTree>
    <p:extLst>
      <p:ext uri="{BB962C8B-B14F-4D97-AF65-F5344CB8AC3E}">
        <p14:creationId xmlns:p14="http://schemas.microsoft.com/office/powerpoint/2010/main" val="127475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87007-7698-9A37-7803-0D3C4D97F724}"/>
              </a:ext>
            </a:extLst>
          </p:cNvPr>
          <p:cNvSpPr>
            <a:spLocks noGrp="1"/>
          </p:cNvSpPr>
          <p:nvPr>
            <p:ph type="title"/>
          </p:nvPr>
        </p:nvSpPr>
        <p:spPr>
          <a:xfrm>
            <a:off x="1640156" y="620372"/>
            <a:ext cx="8911687" cy="1280890"/>
          </a:xfrm>
        </p:spPr>
        <p:txBody>
          <a:bodyPr/>
          <a:lstStyle/>
          <a:p>
            <a:r>
              <a:rPr lang="en-US" b="1" dirty="0">
                <a:latin typeface="Times New Roman" panose="02020603050405020304" pitchFamily="18" charset="0"/>
                <a:cs typeface="Times New Roman" panose="02020603050405020304" pitchFamily="18" charset="0"/>
              </a:rPr>
              <a:t>Mini Task – Findings and Analysis</a:t>
            </a:r>
            <a:endParaRPr lang="en-IN"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42984E2-C9F4-5FAE-6FF6-1CBBCCDF4AE3}"/>
              </a:ext>
            </a:extLst>
          </p:cNvPr>
          <p:cNvGraphicFramePr>
            <a:graphicFrameLocks noGrp="1"/>
          </p:cNvGraphicFramePr>
          <p:nvPr>
            <p:extLst>
              <p:ext uri="{D42A27DB-BD31-4B8C-83A1-F6EECF244321}">
                <p14:modId xmlns:p14="http://schemas.microsoft.com/office/powerpoint/2010/main" val="2424002190"/>
              </p:ext>
            </p:extLst>
          </p:nvPr>
        </p:nvGraphicFramePr>
        <p:xfrm>
          <a:off x="1820800" y="1522082"/>
          <a:ext cx="8731043" cy="4867770"/>
        </p:xfrm>
        <a:graphic>
          <a:graphicData uri="http://schemas.openxmlformats.org/drawingml/2006/table">
            <a:tbl>
              <a:tblPr firstRow="1" firstCol="1" bandRow="1">
                <a:tableStyleId>{5C22544A-7EE6-4342-B048-85BDC9FD1C3A}</a:tableStyleId>
              </a:tblPr>
              <a:tblGrid>
                <a:gridCol w="676378">
                  <a:extLst>
                    <a:ext uri="{9D8B030D-6E8A-4147-A177-3AD203B41FA5}">
                      <a16:colId xmlns:a16="http://schemas.microsoft.com/office/drawing/2014/main" val="3376363132"/>
                    </a:ext>
                  </a:extLst>
                </a:gridCol>
                <a:gridCol w="1031037">
                  <a:extLst>
                    <a:ext uri="{9D8B030D-6E8A-4147-A177-3AD203B41FA5}">
                      <a16:colId xmlns:a16="http://schemas.microsoft.com/office/drawing/2014/main" val="2551017378"/>
                    </a:ext>
                  </a:extLst>
                </a:gridCol>
                <a:gridCol w="1017785">
                  <a:extLst>
                    <a:ext uri="{9D8B030D-6E8A-4147-A177-3AD203B41FA5}">
                      <a16:colId xmlns:a16="http://schemas.microsoft.com/office/drawing/2014/main" val="3218096418"/>
                    </a:ext>
                  </a:extLst>
                </a:gridCol>
                <a:gridCol w="806892">
                  <a:extLst>
                    <a:ext uri="{9D8B030D-6E8A-4147-A177-3AD203B41FA5}">
                      <a16:colId xmlns:a16="http://schemas.microsoft.com/office/drawing/2014/main" val="873351602"/>
                    </a:ext>
                  </a:extLst>
                </a:gridCol>
                <a:gridCol w="5198951">
                  <a:extLst>
                    <a:ext uri="{9D8B030D-6E8A-4147-A177-3AD203B41FA5}">
                      <a16:colId xmlns:a16="http://schemas.microsoft.com/office/drawing/2014/main" val="3439284634"/>
                    </a:ext>
                  </a:extLst>
                </a:gridCol>
              </a:tblGrid>
              <a:tr h="193461">
                <a:tc>
                  <a:txBody>
                    <a:bodyPr/>
                    <a:lstStyle/>
                    <a:p>
                      <a:pPr marL="0" marR="0" indent="457200" algn="ctr">
                        <a:lnSpc>
                          <a:spcPct val="115000"/>
                        </a:lnSpc>
                        <a:spcAft>
                          <a:spcPts val="1000"/>
                        </a:spcAft>
                        <a:buNone/>
                      </a:pPr>
                      <a:r>
                        <a:rPr lang="en-IN" sz="1050">
                          <a:effectLst/>
                        </a:rPr>
                        <a:t>ID</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Finding</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Source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Risk</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Simple Explanation</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3662054058"/>
                  </a:ext>
                </a:extLst>
              </a:tr>
              <a:tr h="93936">
                <a:tc>
                  <a:txBody>
                    <a:bodyPr/>
                    <a:lstStyle/>
                    <a:p>
                      <a:pPr marL="0" marR="0" indent="457200" algn="ctr">
                        <a:lnSpc>
                          <a:spcPct val="115000"/>
                        </a:lnSpc>
                        <a:spcAft>
                          <a:spcPts val="1000"/>
                        </a:spcAft>
                        <a:buNone/>
                      </a:pPr>
                      <a:r>
                        <a:rPr lang="en-IN" sz="1050">
                          <a:effectLst/>
                        </a:rPr>
                        <a:t> </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dirty="0">
                          <a:effectLst/>
                        </a:rPr>
                        <a:t> </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 </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 </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dirty="0">
                          <a:effectLst/>
                        </a:rPr>
                        <a:t> </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2790611543"/>
                  </a:ext>
                </a:extLst>
              </a:tr>
              <a:tr h="492037">
                <a:tc>
                  <a:txBody>
                    <a:bodyPr/>
                    <a:lstStyle/>
                    <a:p>
                      <a:pPr marL="0" marR="0">
                        <a:lnSpc>
                          <a:spcPct val="115000"/>
                        </a:lnSpc>
                        <a:spcAft>
                          <a:spcPts val="1000"/>
                        </a:spcAft>
                        <a:buNone/>
                      </a:pPr>
                      <a:r>
                        <a:rPr lang="en-IN" sz="1050">
                          <a:effectLst/>
                        </a:rPr>
                        <a:t>     F-01</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Server version disclosure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Nikto</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Low</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dirty="0">
                          <a:effectLst/>
                        </a:rPr>
                        <a:t>The web server reveals its Apache version in the HTTP response/header. This gives an attacker information about the server software being used.</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249502008"/>
                  </a:ext>
                </a:extLst>
              </a:tr>
              <a:tr h="492037">
                <a:tc>
                  <a:txBody>
                    <a:bodyPr/>
                    <a:lstStyle/>
                    <a:p>
                      <a:pPr marL="0" marR="0">
                        <a:lnSpc>
                          <a:spcPct val="115000"/>
                        </a:lnSpc>
                        <a:spcAft>
                          <a:spcPts val="1000"/>
                        </a:spcAft>
                        <a:buNone/>
                      </a:pPr>
                      <a:r>
                        <a:rPr lang="en-IN" sz="1050">
                          <a:effectLst/>
                        </a:rPr>
                        <a:t>     F-02</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PHP version disclosure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dirty="0">
                          <a:effectLst/>
                        </a:rPr>
                        <a:t>     </a:t>
                      </a:r>
                      <a:r>
                        <a:rPr lang="en-IN" sz="1050" dirty="0" err="1">
                          <a:effectLst/>
                        </a:rPr>
                        <a:t>Nikto</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Low</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dirty="0">
                          <a:effectLst/>
                        </a:rPr>
                        <a:t>The X-Powered-By header reveals the PHP version. Exposing technology and version details can help attackers identify possible known weaknesses.</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2765614379"/>
                  </a:ext>
                </a:extLst>
              </a:tr>
              <a:tr h="392512">
                <a:tc>
                  <a:txBody>
                    <a:bodyPr/>
                    <a:lstStyle/>
                    <a:p>
                      <a:pPr marL="0" marR="0">
                        <a:lnSpc>
                          <a:spcPct val="115000"/>
                        </a:lnSpc>
                        <a:spcAft>
                          <a:spcPts val="1000"/>
                        </a:spcAft>
                        <a:buNone/>
                      </a:pPr>
                      <a:r>
                        <a:rPr lang="en-IN" sz="1050" dirty="0">
                          <a:effectLst/>
                        </a:rPr>
                        <a:t>    F-03</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Missing security header – X-Content-Type-Options</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Nikto</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Low</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The X-Content-Type-Options security header is not set. Adding it can help prevent browsers from MIME-sniffing responses.</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1672934970"/>
                  </a:ext>
                </a:extLst>
              </a:tr>
              <a:tr h="591562">
                <a:tc>
                  <a:txBody>
                    <a:bodyPr/>
                    <a:lstStyle/>
                    <a:p>
                      <a:pPr marL="0" marR="0">
                        <a:lnSpc>
                          <a:spcPct val="115000"/>
                        </a:lnSpc>
                        <a:spcAft>
                          <a:spcPts val="1000"/>
                        </a:spcAft>
                        <a:buNone/>
                      </a:pPr>
                      <a:r>
                        <a:rPr lang="en-IN" sz="1050" dirty="0">
                          <a:effectLst/>
                        </a:rPr>
                        <a:t>    F-04</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Directory indexing enabled</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Nikto</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Medium</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Some directories such as /admin/, /config/, /test/ and /uploads/ were reported as directory-indexable. This may expose files or folder information that should not be publicly browsable.</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617861498"/>
                  </a:ext>
                </a:extLst>
              </a:tr>
              <a:tr h="543551">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F-05</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Server-status page detected</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dirty="0">
                          <a:effectLst/>
                        </a:rPr>
                        <a:t>    </a:t>
                      </a:r>
                    </a:p>
                    <a:p>
                      <a:pPr marL="0" marR="0">
                        <a:lnSpc>
                          <a:spcPct val="115000"/>
                        </a:lnSpc>
                        <a:spcAft>
                          <a:spcPts val="1000"/>
                        </a:spcAft>
                        <a:buNone/>
                      </a:pPr>
                      <a:r>
                        <a:rPr lang="en-IN" sz="1050" dirty="0">
                          <a:effectLst/>
                        </a:rPr>
                        <a:t>   </a:t>
                      </a:r>
                    </a:p>
                    <a:p>
                      <a:pPr marL="0" marR="0">
                        <a:lnSpc>
                          <a:spcPct val="115000"/>
                        </a:lnSpc>
                        <a:spcAft>
                          <a:spcPts val="1000"/>
                        </a:spcAft>
                        <a:buNone/>
                      </a:pPr>
                      <a:r>
                        <a:rPr lang="en-IN" sz="1050" dirty="0">
                          <a:effectLst/>
                        </a:rPr>
                        <a:t>    </a:t>
                      </a:r>
                      <a:r>
                        <a:rPr lang="en-IN" sz="1050" dirty="0" err="1">
                          <a:effectLst/>
                        </a:rPr>
                        <a:t>Nikto</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Medium</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a:effectLst/>
                        </a:rPr>
                        <a:t> </a:t>
                      </a:r>
                    </a:p>
                    <a:p>
                      <a:pPr marL="0" marR="0">
                        <a:lnSpc>
                          <a:spcPct val="115000"/>
                        </a:lnSpc>
                        <a:spcAft>
                          <a:spcPts val="1000"/>
                        </a:spcAft>
                        <a:buNone/>
                      </a:pPr>
                      <a:r>
                        <a:rPr lang="en-IN" sz="1050">
                          <a:effectLst/>
                        </a:rPr>
                        <a:t>A server-status page was detected. If improperly exposed, it may reveal useful information about server activity and configuration.</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3013274718"/>
                  </a:ext>
                </a:extLst>
              </a:tr>
              <a:tr h="495540">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F-06</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HTTP methods TRACE/TRACK detected</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Nikto</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a:t>
                      </a:r>
                    </a:p>
                    <a:p>
                      <a:pPr marL="0" marR="0">
                        <a:lnSpc>
                          <a:spcPct val="115000"/>
                        </a:lnSpc>
                        <a:spcAft>
                          <a:spcPts val="1000"/>
                        </a:spcAft>
                        <a:buNone/>
                      </a:pPr>
                      <a:r>
                        <a:rPr lang="en-IN" sz="1050">
                          <a:effectLst/>
                        </a:rPr>
                        <a:t>    Medium</a:t>
                      </a:r>
                      <a:endParaRPr lang="en-IN" sz="105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tc>
                  <a:txBody>
                    <a:bodyPr/>
                    <a:lstStyle/>
                    <a:p>
                      <a:pPr marL="0" marR="0" indent="457200" algn="ctr">
                        <a:lnSpc>
                          <a:spcPct val="115000"/>
                        </a:lnSpc>
                        <a:spcAft>
                          <a:spcPts val="1000"/>
                        </a:spcAft>
                        <a:buNone/>
                      </a:pPr>
                      <a:r>
                        <a:rPr lang="en-IN" sz="1050" dirty="0" err="1">
                          <a:effectLst/>
                        </a:rPr>
                        <a:t>Nikto</a:t>
                      </a:r>
                      <a:r>
                        <a:rPr lang="en-IN" sz="1050" dirty="0">
                          <a:effectLst/>
                        </a:rPr>
                        <a:t> reported uncommon HTTP methods such as TRACE and TRACK. Unnecessary HTTP methods should generally be disabled to reduce the attack surface.</a:t>
                      </a:r>
                      <a:endParaRPr lang="en-IN" sz="1050" dirty="0">
                        <a:effectLst/>
                        <a:latin typeface="Aptos" panose="020B0004020202020204" pitchFamily="34" charset="0"/>
                        <a:ea typeface="MS Mincho" panose="02020609040205080304" pitchFamily="49" charset="-128"/>
                        <a:cs typeface="Times New Roman" panose="02020603050405020304" pitchFamily="18" charset="0"/>
                      </a:endParaRPr>
                    </a:p>
                  </a:txBody>
                  <a:tcPr marL="27818" marR="27818" marT="0" marB="0"/>
                </a:tc>
                <a:extLst>
                  <a:ext uri="{0D108BD9-81ED-4DB2-BD59-A6C34878D82A}">
                    <a16:rowId xmlns:a16="http://schemas.microsoft.com/office/drawing/2014/main" val="3819199035"/>
                  </a:ext>
                </a:extLst>
              </a:tr>
            </a:tbl>
          </a:graphicData>
        </a:graphic>
      </p:graphicFrame>
    </p:spTree>
    <p:extLst>
      <p:ext uri="{BB962C8B-B14F-4D97-AF65-F5344CB8AC3E}">
        <p14:creationId xmlns:p14="http://schemas.microsoft.com/office/powerpoint/2010/main" val="2896155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BCA39-90AE-636F-C90C-57330F8FE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EA663E-99F2-E5A6-943D-219660C5BF9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Complete VAPT Workflow:</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64747B9-6CB4-8B6A-8177-932B6704F0AC}"/>
              </a:ext>
            </a:extLst>
          </p:cNvPr>
          <p:cNvSpPr txBox="1"/>
          <p:nvPr/>
        </p:nvSpPr>
        <p:spPr>
          <a:xfrm>
            <a:off x="1750142" y="1558266"/>
            <a:ext cx="8456612" cy="5103961"/>
          </a:xfrm>
          <a:prstGeom prst="rect">
            <a:avLst/>
          </a:prstGeom>
          <a:noFill/>
        </p:spPr>
        <p:txBody>
          <a:bodyPr wrap="square">
            <a:spAutoFit/>
          </a:bodyPr>
          <a:lstStyle/>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The practical workflow followed in this week can be summarized as: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1. Confirm authorization and select the approved lab target.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2. Perform Nmap discovery to understand exposed ports and services.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3. Use Nmap service/version detection to collect additional information.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4. Run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Nikto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against the authorized web application.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5. Review automated findings and separate useful evidence from false positives or informational results.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6. Configure Burp Suite as a local proxy.</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7. Intercept normal HTTP requests and inspect headers, cookies and parameters.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8. Correlate observations from all three tools.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9. Document at least three findings with evidence and recommendations.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10. Prepare the final report, PPT, GitHub evidence and LinkedIn learning post.</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endParaRPr lang="en-IN" sz="105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554556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89CE8-6720-2C0A-86D9-FBBC3BAB9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F691-718A-18E8-DBFF-85C4DBF0829E}"/>
              </a:ext>
            </a:extLst>
          </p:cNvPr>
          <p:cNvSpPr>
            <a:spLocks noGrp="1"/>
          </p:cNvSpPr>
          <p:nvPr>
            <p:ph type="title"/>
          </p:nvPr>
        </p:nvSpPr>
        <p:spPr>
          <a:xfrm>
            <a:off x="1640156" y="653607"/>
            <a:ext cx="8911687" cy="1280890"/>
          </a:xfrm>
        </p:spPr>
        <p:txBody>
          <a:bodyPr/>
          <a:lstStyle/>
          <a:p>
            <a:pPr>
              <a:spcAft>
                <a:spcPts val="1000"/>
              </a:spcAft>
            </a:pPr>
            <a:r>
              <a:rPr lang="en-US" b="1" dirty="0">
                <a:solidFill>
                  <a:schemeClr val="tx1"/>
                </a:solidFill>
                <a:latin typeface="Times New Roman" panose="02020603050405020304" pitchFamily="18" charset="0"/>
                <a:ea typeface="MS Mincho" panose="02020609040205080304" pitchFamily="49" charset="-128"/>
                <a:cs typeface="Times New Roman" panose="02020603050405020304" pitchFamily="18" charset="0"/>
              </a:rPr>
              <a:t> Learning Outcomes</a:t>
            </a:r>
            <a:endParaRPr lang="en-IN" dirty="0">
              <a:latin typeface="Times New Roman" panose="02020603050405020304" pitchFamily="18" charset="0"/>
              <a:ea typeface="MS Mincho" panose="02020609040205080304" pitchFamily="49" charset="-128"/>
              <a:cs typeface="Times New Roman" panose="02020603050405020304" pitchFamily="18" charset="0"/>
            </a:endParaRPr>
          </a:p>
        </p:txBody>
      </p:sp>
      <p:sp>
        <p:nvSpPr>
          <p:cNvPr id="5" name="TextBox 4">
            <a:extLst>
              <a:ext uri="{FF2B5EF4-FFF2-40B4-BE49-F238E27FC236}">
                <a16:creationId xmlns:a16="http://schemas.microsoft.com/office/drawing/2014/main" id="{AD879D56-023C-F27A-660E-CF5F4B976A46}"/>
              </a:ext>
            </a:extLst>
          </p:cNvPr>
          <p:cNvSpPr txBox="1"/>
          <p:nvPr/>
        </p:nvSpPr>
        <p:spPr>
          <a:xfrm>
            <a:off x="1438301" y="1640722"/>
            <a:ext cx="8160774" cy="4334520"/>
          </a:xfrm>
          <a:prstGeom prst="rect">
            <a:avLst/>
          </a:prstGeom>
          <a:noFill/>
        </p:spPr>
        <p:txBody>
          <a:bodyPr wrap="square">
            <a:spAutoFit/>
          </a:bodyPr>
          <a:lstStyle/>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Learned how Nmap is used for basic network reconnaissance.</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Understood the difference between port discovery and service/version detection.</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Learned how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Nikto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can identify common web-server security observations.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Understood the role of a proxy in web application testing.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Learned how HTTP methods, headers, cookies and parameters appear in real requests.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Improved the ability to read scanner output instead of simply running commands.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342900" marR="0" lvl="0" indent="-342900">
              <a:lnSpc>
                <a:spcPct val="100000"/>
              </a:lnSpc>
              <a:spcAft>
                <a:spcPts val="1000"/>
              </a:spcAft>
              <a:buFont typeface="Symbol" panose="05050102010706020507" pitchFamily="18" charset="2"/>
              <a:buChar char=""/>
              <a:tabLst>
                <a:tab pos="228600" algn="l"/>
              </a:tabLst>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Understood the importance of authorization and responsible security testing.</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Bef>
                <a:spcPts val="1000"/>
              </a:spcBef>
              <a:buNone/>
            </a:pPr>
            <a:r>
              <a:rPr lang="en-US"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rPr>
              <a:t>Key Commands Used</a:t>
            </a:r>
            <a:endParaRPr lang="en-IN" sz="1800" b="1" dirty="0">
              <a:solidFill>
                <a:schemeClr val="tx1"/>
              </a:solidFill>
              <a:effectLst/>
              <a:latin typeface="Times New Roman" panose="02020603050405020304" pitchFamily="18" charset="0"/>
              <a:ea typeface="MS Gothic" panose="020B0609070205080204" pitchFamily="49" charset="-128"/>
              <a:cs typeface="Times New Roman" panose="02020603050405020304" pitchFamily="18" charset="0"/>
            </a:endParaRPr>
          </a:p>
          <a:p>
            <a:pPr marL="228600" marR="0">
              <a:lnSpc>
                <a:spcPct val="100000"/>
              </a:lnSpc>
              <a:spcAft>
                <a:spcPts val="10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nmap</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sS</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testphp.vulnweb.com</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228600" marR="0">
              <a:lnSpc>
                <a:spcPct val="100000"/>
              </a:lnSpc>
              <a:spcAft>
                <a:spcPts val="10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nmap</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sV</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testphp.vulnweb.com</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228600" marR="0">
              <a:lnSpc>
                <a:spcPct val="100000"/>
              </a:lnSpc>
              <a:spcAft>
                <a:spcPts val="10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nmap</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-A testphp.vulnweb.com</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228600" marR="0">
              <a:lnSpc>
                <a:spcPct val="100000"/>
              </a:lnSpc>
              <a:spcAft>
                <a:spcPts val="1000"/>
              </a:spcAft>
              <a:buNone/>
            </a:pP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nikto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-h http://testphp.vulnweb.com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6358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38C0-E838-69AA-4F14-6334E57CAD09}"/>
              </a:ext>
            </a:extLst>
          </p:cNvPr>
          <p:cNvSpPr>
            <a:spLocks noGrp="1"/>
          </p:cNvSpPr>
          <p:nvPr>
            <p:ph type="title"/>
          </p:nvPr>
        </p:nvSpPr>
        <p:spPr>
          <a:xfrm>
            <a:off x="-291864" y="692936"/>
            <a:ext cx="8911687" cy="1280890"/>
          </a:xfrm>
        </p:spPr>
        <p:txBody>
          <a:bodyPr/>
          <a:lstStyle/>
          <a:p>
            <a:pPr marL="2286000">
              <a:spcBef>
                <a:spcPts val="2400"/>
              </a:spcBef>
            </a:pPr>
            <a:r>
              <a:rPr lang="en-US" b="1" kern="0" dirty="0">
                <a:solidFill>
                  <a:schemeClr val="tx1"/>
                </a:solidFill>
                <a:latin typeface="Times New Roman" panose="02020603050405020304" pitchFamily="18" charset="0"/>
                <a:ea typeface="MS Gothic" panose="020B0609070205080204" pitchFamily="49" charset="-128"/>
                <a:cs typeface="Times New Roman" panose="02020603050405020304" pitchFamily="18" charset="0"/>
              </a:rPr>
              <a:t>Conclusion</a:t>
            </a:r>
            <a:endParaRPr lang="en-IN" b="1" kern="0" dirty="0">
              <a:solidFill>
                <a:schemeClr val="tx1"/>
              </a:solidFill>
              <a:latin typeface="Times New Roman" panose="02020603050405020304" pitchFamily="18" charset="0"/>
              <a:ea typeface="MS Gothic" panose="020B0609070205080204" pitchFamily="49" charset="-128"/>
              <a:cs typeface="Times New Roman" panose="02020603050405020304" pitchFamily="18" charset="0"/>
            </a:endParaRPr>
          </a:p>
        </p:txBody>
      </p:sp>
      <p:sp>
        <p:nvSpPr>
          <p:cNvPr id="4" name="TextBox 3">
            <a:extLst>
              <a:ext uri="{FF2B5EF4-FFF2-40B4-BE49-F238E27FC236}">
                <a16:creationId xmlns:a16="http://schemas.microsoft.com/office/drawing/2014/main" id="{BAC8E663-905D-7388-D4C5-48569079D0B9}"/>
              </a:ext>
            </a:extLst>
          </p:cNvPr>
          <p:cNvSpPr txBox="1"/>
          <p:nvPr/>
        </p:nvSpPr>
        <p:spPr>
          <a:xfrm>
            <a:off x="2295849" y="1905000"/>
            <a:ext cx="7688827" cy="2990562"/>
          </a:xfrm>
          <a:prstGeom prst="rect">
            <a:avLst/>
          </a:prstGeom>
          <a:noFill/>
        </p:spPr>
        <p:txBody>
          <a:bodyPr wrap="square">
            <a:spAutoFit/>
          </a:bodyPr>
          <a:lstStyle/>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This Week 5 practical provided hands-on exposure to the basic VAPT process. Nmap was used to understand exposed ports and services, </a:t>
            </a:r>
            <a:r>
              <a:rPr lang="en-US" sz="1800" dirty="0" err="1">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Nikto</a:t>
            </a: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 was used to perform an initial web-server security scan, and Burp Suite was used to intercept and inspect HTTP traffic. The most important learning was not simply executing commands, but understanding what the results mean and how they can be documented as security findings.</a:t>
            </a:r>
            <a:endParaRPr lang="en-IN" sz="18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0" marR="0">
              <a:lnSpc>
                <a:spcPct val="100000"/>
              </a:lnSpc>
              <a:spcAft>
                <a:spcPts val="1000"/>
              </a:spcAft>
              <a:buNone/>
            </a:pPr>
            <a:r>
              <a:rPr lang="en-US" sz="18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rPr>
              <a:t>The practical also reinforced responsible security testing. All testing in this report is limited to the authorized training target specified by the internship. In a professional VAPT engagement, written authorization, defined scope, safe testing procedures and evidence-based reporting are essential.</a:t>
            </a:r>
            <a:endParaRPr lang="en-IN" sz="1050" dirty="0">
              <a:effectLst/>
              <a:latin typeface="Times New Roman" panose="020206030504050203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11445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E3E2F3-C062-FA51-8231-01734016B6AE}"/>
              </a:ext>
            </a:extLst>
          </p:cNvPr>
          <p:cNvSpPr>
            <a:spLocks noGrp="1"/>
          </p:cNvSpPr>
          <p:nvPr>
            <p:ph idx="1"/>
          </p:nvPr>
        </p:nvSpPr>
        <p:spPr>
          <a:xfrm>
            <a:off x="3276600" y="2762865"/>
            <a:ext cx="8915400" cy="3777622"/>
          </a:xfrm>
        </p:spPr>
        <p:txBody>
          <a:bodyPr>
            <a:normAutofit/>
          </a:bodyPr>
          <a:lstStyle/>
          <a:p>
            <a:pPr marL="0" indent="0">
              <a:buNone/>
            </a:pPr>
            <a:r>
              <a:rPr lang="en-US" sz="5400" dirty="0">
                <a:solidFill>
                  <a:schemeClr val="tx1"/>
                </a:solidFill>
                <a:latin typeface="Algerian" panose="04020705040A02060702" pitchFamily="82" charset="0"/>
                <a:cs typeface="Aldhabi" panose="01000000000000000000" pitchFamily="2" charset="-78"/>
              </a:rPr>
              <a:t>Thank you </a:t>
            </a:r>
            <a:endParaRPr lang="en-IN" sz="5400" dirty="0">
              <a:solidFill>
                <a:schemeClr val="tx1"/>
              </a:solidFill>
              <a:latin typeface="Algerian" panose="04020705040A02060702" pitchFamily="82" charset="0"/>
              <a:cs typeface="Aldhabi" panose="01000000000000000000" pitchFamily="2" charset="-78"/>
            </a:endParaRPr>
          </a:p>
        </p:txBody>
      </p:sp>
      <p:pic>
        <p:nvPicPr>
          <p:cNvPr id="5" name="Picture 4">
            <a:extLst>
              <a:ext uri="{FF2B5EF4-FFF2-40B4-BE49-F238E27FC236}">
                <a16:creationId xmlns:a16="http://schemas.microsoft.com/office/drawing/2014/main" id="{E4665CE3-6176-1599-BA81-FC36F9B5E13A}"/>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0" y="1071"/>
            <a:ext cx="12192000" cy="6855858"/>
          </a:xfrm>
          <a:prstGeom prst="rect">
            <a:avLst/>
          </a:prstGeom>
        </p:spPr>
      </p:pic>
    </p:spTree>
    <p:extLst>
      <p:ext uri="{BB962C8B-B14F-4D97-AF65-F5344CB8AC3E}">
        <p14:creationId xmlns:p14="http://schemas.microsoft.com/office/powerpoint/2010/main" val="2408759940"/>
      </p:ext>
    </p:extLst>
  </p:cSld>
  <p:clrMapOvr>
    <a:masterClrMapping/>
  </p:clrMapOvr>
</p:sld>
</file>

<file path=ppt/theme/theme1.xml><?xml version="1.0" encoding="utf-8"?>
<a:theme xmlns:a="http://schemas.openxmlformats.org/drawingml/2006/main" name="Wisp">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
  <TotalTime>144</TotalTime>
  <Words>1066</Words>
  <Application>Microsoft Office PowerPoint</Application>
  <PresentationFormat>Widescreen</PresentationFormat>
  <Paragraphs>133</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Algerian</vt:lpstr>
      <vt:lpstr>Aptos</vt:lpstr>
      <vt:lpstr>Arial</vt:lpstr>
      <vt:lpstr>Century Gothic</vt:lpstr>
      <vt:lpstr>Symbol</vt:lpstr>
      <vt:lpstr>Times New Roman</vt:lpstr>
      <vt:lpstr>Wingdings</vt:lpstr>
      <vt:lpstr>Wingdings 3</vt:lpstr>
      <vt:lpstr>Wisp</vt:lpstr>
      <vt:lpstr>    Week 5 Internship Report Computer Networking Fundamentals     </vt:lpstr>
      <vt:lpstr>Introduction</vt:lpstr>
      <vt:lpstr>Lab Environment and Network Topology</vt:lpstr>
      <vt:lpstr>Nmap -sS Result </vt:lpstr>
      <vt:lpstr>Nmap -sV Result &amp; Nmap -A Result  </vt:lpstr>
      <vt:lpstr>Nikto Web Vulnerability Scan</vt:lpstr>
      <vt:lpstr>Burp Suite HTTP Request Interception</vt:lpstr>
      <vt:lpstr>Mini Task – Findings and Analysis</vt:lpstr>
      <vt:lpstr>Complete VAPT Workflow:</vt:lpstr>
      <vt:lpstr> Learning Outcomes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krina sorathiya</dc:creator>
  <cp:lastModifiedBy>krina sorathiya</cp:lastModifiedBy>
  <cp:revision>5</cp:revision>
  <dcterms:created xsi:type="dcterms:W3CDTF">2026-08-07T17:59:55Z</dcterms:created>
  <dcterms:modified xsi:type="dcterms:W3CDTF">2026-09-12T16:12:11Z</dcterms:modified>
</cp:coreProperties>
</file>